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" panose="020B0604020202020204" charset="-78"/>
      <p:regular r:id="rId13"/>
    </p:embeddedFont>
    <p:embeddedFont>
      <p:font typeface="Nobil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77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229320"/>
            <a:ext cx="2941082" cy="373142"/>
          </a:xfrm>
          <a:prstGeom prst="roundRect">
            <a:avLst>
              <a:gd name="adj" fmla="val 17872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1288852"/>
            <a:ext cx="270295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INNOVATION MANAGEMENT EXPO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681758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Innovista: Revolutionising Water Conservation and Monitoring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383964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Presented by </a:t>
            </a: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Team Innovista</a:t>
            </a: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pioneering smart solutions for a water-secure future.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83516" y="4708243"/>
            <a:ext cx="7556421" cy="1151096"/>
          </a:xfrm>
          <a:prstGeom prst="roundRect">
            <a:avLst>
              <a:gd name="adj" fmla="val 362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9768" y="49039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Neeraj N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99768" y="5333167"/>
            <a:ext cx="337387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2320030103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572000" y="4705588"/>
            <a:ext cx="3770590" cy="1143476"/>
          </a:xfrm>
          <a:prstGeom prst="rect">
            <a:avLst/>
          </a:prstGeom>
          <a:solidFill>
            <a:srgbClr val="D2DDF9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4705588"/>
            <a:ext cx="22860" cy="1143476"/>
          </a:xfrm>
          <a:prstGeom prst="roundRect">
            <a:avLst>
              <a:gd name="adj" fmla="val 364651"/>
            </a:avLst>
          </a:prstGeom>
          <a:solidFill>
            <a:srgbClr val="B8C3DF"/>
          </a:solidFill>
          <a:ln/>
        </p:spPr>
      </p:sp>
      <p:sp>
        <p:nvSpPr>
          <p:cNvPr id="13" name="Text 10"/>
          <p:cNvSpPr/>
          <p:nvPr/>
        </p:nvSpPr>
        <p:spPr>
          <a:xfrm>
            <a:off x="4770358" y="49039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cs typeface="Alexandria" pitchFamily="34" charset="-120"/>
              </a:rPr>
              <a:t>Arnold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4770358" y="5333167"/>
            <a:ext cx="337387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2320030480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01410" y="5849064"/>
            <a:ext cx="7541181" cy="22860"/>
          </a:xfrm>
          <a:prstGeom prst="roundRect">
            <a:avLst>
              <a:gd name="adj" fmla="val 364651"/>
            </a:avLst>
          </a:prstGeom>
          <a:solidFill>
            <a:srgbClr val="B8C3D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02680" y="621625"/>
            <a:ext cx="1387316" cy="340519"/>
          </a:xfrm>
          <a:prstGeom prst="roundRect">
            <a:avLst>
              <a:gd name="adj" fmla="val 17670"/>
            </a:avLst>
          </a:prstGeom>
          <a:noFill/>
          <a:ln w="7620">
            <a:solidFill>
              <a:srgbClr val="1B54D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317694" y="682943"/>
            <a:ext cx="11572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02680" y="1026676"/>
            <a:ext cx="7711440" cy="1119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Global Water Crisis: A Looming Threat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202680" y="2388156"/>
            <a:ext cx="771144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Water is the world's most critical resource — yet it is rapidly becoming its most endangered. The scale of the crisis demands urgent, technology-driven action.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02680" y="3204210"/>
            <a:ext cx="3754755" cy="590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5B+</a:t>
            </a:r>
            <a:endParaRPr lang="en-US" sz="4650" dirty="0"/>
          </a:p>
        </p:txBody>
      </p:sp>
      <p:sp>
        <p:nvSpPr>
          <p:cNvPr id="8" name="Text 5"/>
          <p:cNvSpPr/>
          <p:nvPr/>
        </p:nvSpPr>
        <p:spPr>
          <a:xfrm>
            <a:off x="6960870" y="4005739"/>
            <a:ext cx="223837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People at Risk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02680" y="4382453"/>
            <a:ext cx="3754755" cy="81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 5 billion people could face water scarcity by 2050 if consumption trends continue unchecked.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159365" y="3204210"/>
            <a:ext cx="3754755" cy="590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55%</a:t>
            </a:r>
            <a:endParaRPr lang="en-US" sz="4650" dirty="0"/>
          </a:p>
        </p:txBody>
      </p:sp>
      <p:sp>
        <p:nvSpPr>
          <p:cNvPr id="11" name="Text 8"/>
          <p:cNvSpPr/>
          <p:nvPr/>
        </p:nvSpPr>
        <p:spPr>
          <a:xfrm>
            <a:off x="10917555" y="4005739"/>
            <a:ext cx="223837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Demand Surge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159365" y="4382453"/>
            <a:ext cx="3754755" cy="81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Global water demand is projected to surge by 55% by 2050, far outpacing sustainable supply levels.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1023" y="5612368"/>
            <a:ext cx="3754755" cy="590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70%</a:t>
            </a:r>
            <a:endParaRPr lang="en-US" sz="4650" dirty="0"/>
          </a:p>
        </p:txBody>
      </p:sp>
      <p:sp>
        <p:nvSpPr>
          <p:cNvPr id="14" name="Text 11"/>
          <p:cNvSpPr/>
          <p:nvPr/>
        </p:nvSpPr>
        <p:spPr>
          <a:xfrm>
            <a:off x="8939213" y="6413897"/>
            <a:ext cx="223837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Industrial Draw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8181023" y="6790611"/>
            <a:ext cx="3754755" cy="81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Industrial and agricultural sectors account for 70% of all global freshwater withdrawals annually.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36013"/>
            <a:ext cx="1444943" cy="373142"/>
          </a:xfrm>
          <a:prstGeom prst="roundRect">
            <a:avLst>
              <a:gd name="adj" fmla="val 17872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495544"/>
            <a:ext cx="12068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888450"/>
            <a:ext cx="1211615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Introducing Innovista: Smart Water Management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80618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Innovista is a next-generation, end-to-end water management platform that combines cutting-edge sensor hardware with AI-powered intelligence to deliver real-time monitoring, predictive analytics, and actionable conservation insights.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64506"/>
            <a:ext cx="2425660" cy="14991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5411629"/>
            <a:ext cx="268914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Real-Time Monitoring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93790" y="5840849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Continuous, 24/7 tracking of water quality, flow, and consumption across any infrastructure.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3664506"/>
            <a:ext cx="2425660" cy="14991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3986" y="54116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AI-Driven Analytics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223986" y="5840849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 algorithms detect anomalies, predict failures, and optimise usage patterns automatically.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3664506"/>
            <a:ext cx="2425660" cy="14991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54302" y="5411629"/>
            <a:ext cx="26715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Versatile Applications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654302" y="5840849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Purpose-built for industrial plants, agricultural operations, and municipal water supply networks.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5930" y="731758"/>
            <a:ext cx="1295995" cy="376833"/>
          </a:xfrm>
          <a:prstGeom prst="roundRect">
            <a:avLst>
              <a:gd name="adj" fmla="val 17296"/>
            </a:avLst>
          </a:prstGeom>
          <a:noFill/>
          <a:ln w="7620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9874" y="797481"/>
            <a:ext cx="1048107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5930" y="1184315"/>
            <a:ext cx="10297716" cy="60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How Innovista Works: Precision Monitoring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36270" y="2074783"/>
            <a:ext cx="6582013" cy="5423059"/>
          </a:xfrm>
          <a:prstGeom prst="roundRect">
            <a:avLst>
              <a:gd name="adj" fmla="val 2575"/>
            </a:avLst>
          </a:prstGeom>
          <a:solidFill>
            <a:srgbClr val="1B54DA"/>
          </a:solidFill>
          <a:ln/>
        </p:spPr>
      </p:sp>
      <p:sp>
        <p:nvSpPr>
          <p:cNvPr id="6" name="Text 4"/>
          <p:cNvSpPr/>
          <p:nvPr/>
        </p:nvSpPr>
        <p:spPr>
          <a:xfrm>
            <a:off x="830223" y="2264331"/>
            <a:ext cx="2619494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Technology Stack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30223" y="2757011"/>
            <a:ext cx="6194108" cy="1226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Innovista's architecture is built on three tightly integrated layers — physical sensing, data transmission, and intelligent analytics — working in concert to deliver unparalleled water intelligence in real time.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2144" y="2293918"/>
            <a:ext cx="290870" cy="2908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89714" y="2288024"/>
            <a:ext cx="3648075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Advanced Sensor Deployment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189714" y="2780705"/>
            <a:ext cx="5672376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Multi-parameter sensors are deployable across rivers, reservoirs, distribution pipes, and irrigation channels, measuring flow rate, turbidity, pH, and contamination levels.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2144" y="4085808"/>
            <a:ext cx="290870" cy="2908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89714" y="4079915"/>
            <a:ext cx="3495675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Real-Time Data Transmission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8189714" y="4572595"/>
            <a:ext cx="5672376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is streamed continuously to a centralised cloud dashboard, providing operators with live consumption patterns and instant alerts on deviations.</a:t>
            </a:r>
            <a:endParaRPr lang="en-US" sz="15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2144" y="5877699"/>
            <a:ext cx="290870" cy="29087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89714" y="5871805"/>
            <a:ext cx="3812500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AI-Powered Anomaly Detection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189714" y="6364486"/>
            <a:ext cx="5672376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Proprietary algorithms instantly flag leaks, inefficiencies, and quality issues, enabling rapid corrective action before waste escalates.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631150"/>
            <a:ext cx="858560" cy="373142"/>
          </a:xfrm>
          <a:prstGeom prst="roundRect">
            <a:avLst>
              <a:gd name="adj" fmla="val 17872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6399252" y="690682"/>
            <a:ext cx="62043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IMPACT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1083588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Innovista's Conservation Impact: Quantifiable Results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280190" y="2621399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Innovista does not just monitor water — it actively drives measurable conservation outcomes, delivering verifiable results across every deployment scenario.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3797260"/>
            <a:ext cx="3679031" cy="2118955"/>
          </a:xfrm>
          <a:prstGeom prst="roundRect">
            <a:avLst>
              <a:gd name="adj" fmla="val 393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86168" y="4003238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🔍</a:t>
            </a: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Leak Detection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486168" y="4440079"/>
            <a:ext cx="326707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Reduces water loss by </a:t>
            </a: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 to 30%</a:t>
            </a: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pilot projects by identifying and alerting on leaks within minutes of occurrence.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157579" y="3797260"/>
            <a:ext cx="3679031" cy="2118955"/>
          </a:xfrm>
          <a:prstGeom prst="roundRect">
            <a:avLst>
              <a:gd name="adj" fmla="val 393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63557" y="4003238"/>
            <a:ext cx="2499003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⚙️</a:t>
            </a: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Optimised Usage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363557" y="4440079"/>
            <a:ext cx="326707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Achieves a </a:t>
            </a: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15–20% reduction</a:t>
            </a: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water consumption for industrial clients through intelligent demand-side management.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80190" y="6114574"/>
            <a:ext cx="7556421" cy="1483876"/>
          </a:xfrm>
          <a:prstGeom prst="roundRect">
            <a:avLst>
              <a:gd name="adj" fmla="val 561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86168" y="6320552"/>
            <a:ext cx="3288506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🔧</a:t>
            </a: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Predictive Maintenance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486168" y="6757392"/>
            <a:ext cx="71444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Forecasts infrastructure stress points before failure, preventing costly breakdowns and associated water wastage.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9381" y="522089"/>
            <a:ext cx="1366837" cy="366832"/>
          </a:xfrm>
          <a:prstGeom prst="roundRect">
            <a:avLst>
              <a:gd name="adj" fmla="val 17390"/>
            </a:avLst>
          </a:prstGeom>
          <a:noFill/>
          <a:ln w="7620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0824" y="586621"/>
            <a:ext cx="1123950" cy="237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CASE STUDY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59381" y="961549"/>
            <a:ext cx="7958852" cy="593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Case Study: Agri-Tech Innovations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81" y="2031563"/>
            <a:ext cx="22860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9381" y="4532149"/>
            <a:ext cx="3071336" cy="2983706"/>
          </a:xfrm>
          <a:prstGeom prst="roundRect">
            <a:avLst>
              <a:gd name="adj" fmla="val 367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6521" y="4521875"/>
            <a:ext cx="91440" cy="2983706"/>
          </a:xfrm>
          <a:prstGeom prst="roundRect">
            <a:avLst>
              <a:gd name="adj" fmla="val 87206"/>
            </a:avLst>
          </a:prstGeom>
          <a:solidFill>
            <a:srgbClr val="1B54DA"/>
          </a:solidFill>
          <a:ln/>
        </p:spPr>
      </p:sp>
      <p:sp>
        <p:nvSpPr>
          <p:cNvPr id="8" name="Text 5"/>
          <p:cNvSpPr/>
          <p:nvPr/>
        </p:nvSpPr>
        <p:spPr>
          <a:xfrm>
            <a:off x="1040606" y="4734520"/>
            <a:ext cx="237315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Challenge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40606" y="5212675"/>
            <a:ext cx="2577465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Large-scale farming operations were losing enormous volumes of water to inefficient, schedule-based irrigation that ignored actual soil and weather conditions.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012287" y="4521875"/>
            <a:ext cx="3071336" cy="2983706"/>
          </a:xfrm>
          <a:prstGeom prst="roundRect">
            <a:avLst>
              <a:gd name="adj" fmla="val 367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89427" y="4521875"/>
            <a:ext cx="91440" cy="2983706"/>
          </a:xfrm>
          <a:prstGeom prst="roundRect">
            <a:avLst>
              <a:gd name="adj" fmla="val 87206"/>
            </a:avLst>
          </a:prstGeom>
          <a:solidFill>
            <a:srgbClr val="1B54DA"/>
          </a:solidFill>
          <a:ln/>
        </p:spPr>
      </p:sp>
      <p:sp>
        <p:nvSpPr>
          <p:cNvPr id="12" name="Text 9"/>
          <p:cNvSpPr/>
          <p:nvPr/>
        </p:nvSpPr>
        <p:spPr>
          <a:xfrm>
            <a:off x="4293513" y="4734520"/>
            <a:ext cx="2577465" cy="59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Innovista Solution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4293513" y="5509260"/>
            <a:ext cx="257746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Precision irrigation driven by real-time soil moisture sensors and live weather data feeds, ensuring water is applied only when and where it is needed.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417713" y="1827252"/>
            <a:ext cx="6597610" cy="5882640"/>
          </a:xfrm>
          <a:prstGeom prst="roundRect">
            <a:avLst>
              <a:gd name="adj" fmla="val 2324"/>
            </a:avLst>
          </a:prstGeom>
          <a:solidFill>
            <a:srgbClr val="1B54DA"/>
          </a:solidFill>
          <a:ln/>
        </p:spPr>
      </p:sp>
      <p:sp>
        <p:nvSpPr>
          <p:cNvPr id="15" name="Text 12"/>
          <p:cNvSpPr/>
          <p:nvPr/>
        </p:nvSpPr>
        <p:spPr>
          <a:xfrm>
            <a:off x="7607498" y="2008823"/>
            <a:ext cx="2647355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Measurable Outcomes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7607498" y="2604611"/>
            <a:ext cx="2995493" cy="626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25%</a:t>
            </a:r>
            <a:endParaRPr lang="en-US" sz="4900" dirty="0"/>
          </a:p>
        </p:txBody>
      </p:sp>
      <p:sp>
        <p:nvSpPr>
          <p:cNvPr id="17" name="Text 14"/>
          <p:cNvSpPr/>
          <p:nvPr/>
        </p:nvSpPr>
        <p:spPr>
          <a:xfrm>
            <a:off x="7918609" y="3462218"/>
            <a:ext cx="237315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Less Water Used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7607498" y="3940373"/>
            <a:ext cx="2995493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Significant reduction in total irrigation water consumption across the pilot farm.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0829925" y="2604611"/>
            <a:ext cx="2995613" cy="626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10%</a:t>
            </a:r>
            <a:endParaRPr lang="en-US" sz="4900" dirty="0"/>
          </a:p>
        </p:txBody>
      </p:sp>
      <p:sp>
        <p:nvSpPr>
          <p:cNvPr id="20" name="Text 17"/>
          <p:cNvSpPr/>
          <p:nvPr/>
        </p:nvSpPr>
        <p:spPr>
          <a:xfrm>
            <a:off x="11141154" y="3462218"/>
            <a:ext cx="237315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Crop Yield Gain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10829925" y="3940373"/>
            <a:ext cx="2995613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Optimised watering schedules improved crop health, resulting in a 10% increase in total yield.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607498" y="5036225"/>
            <a:ext cx="62180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case demonstrates that smarter water use does not mean compromising productivity — it enhances it.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2711" y="785455"/>
            <a:ext cx="1345049" cy="350401"/>
          </a:xfrm>
          <a:prstGeom prst="roundRect">
            <a:avLst>
              <a:gd name="adj" fmla="val 17568"/>
            </a:avLst>
          </a:prstGeom>
          <a:noFill/>
          <a:ln w="7620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225" y="847963"/>
            <a:ext cx="1110020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CASE STUDY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2711" y="1203484"/>
            <a:ext cx="8840033" cy="572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Case Study: Urban Water Management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0789" y="2029539"/>
            <a:ext cx="6622852" cy="5414486"/>
          </a:xfrm>
          <a:prstGeom prst="roundRect">
            <a:avLst>
              <a:gd name="adj" fmla="val 2436"/>
            </a:avLst>
          </a:prstGeom>
          <a:solidFill>
            <a:srgbClr val="1B54DA"/>
          </a:solidFill>
          <a:ln/>
        </p:spPr>
      </p:sp>
      <p:sp>
        <p:nvSpPr>
          <p:cNvPr id="6" name="Text 4"/>
          <p:cNvSpPr/>
          <p:nvPr/>
        </p:nvSpPr>
        <p:spPr>
          <a:xfrm>
            <a:off x="783908" y="2198608"/>
            <a:ext cx="2555677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Measurable Outcomes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3908" y="2766417"/>
            <a:ext cx="3022640" cy="60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18%</a:t>
            </a:r>
            <a:endParaRPr lang="en-US" sz="4750" dirty="0"/>
          </a:p>
        </p:txBody>
      </p:sp>
      <p:sp>
        <p:nvSpPr>
          <p:cNvPr id="8" name="Text 6"/>
          <p:cNvSpPr/>
          <p:nvPr/>
        </p:nvSpPr>
        <p:spPr>
          <a:xfrm>
            <a:off x="1150144" y="3589258"/>
            <a:ext cx="229004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NRW Reduction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3908" y="4044434"/>
            <a:ext cx="3022640" cy="1127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Non-revenue water losses slashed by 18%, translating directly into operational cost savings for the municipality.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17883" y="2766417"/>
            <a:ext cx="3022640" cy="60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↑</a:t>
            </a:r>
            <a:endParaRPr lang="en-US" sz="4750" dirty="0"/>
          </a:p>
        </p:txBody>
      </p:sp>
      <p:sp>
        <p:nvSpPr>
          <p:cNvPr id="11" name="Text 9"/>
          <p:cNvSpPr/>
          <p:nvPr/>
        </p:nvSpPr>
        <p:spPr>
          <a:xfrm>
            <a:off x="4384119" y="3589258"/>
            <a:ext cx="229004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Supply Reliability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17883" y="4044434"/>
            <a:ext cx="3022640" cy="1127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Citizens experienced markedly improved water pressure consistency and fewer supply interruptions.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300" y="2219682"/>
            <a:ext cx="2286000" cy="2286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546300" y="4695825"/>
            <a:ext cx="3094911" cy="2558058"/>
          </a:xfrm>
          <a:prstGeom prst="roundRect">
            <a:avLst>
              <a:gd name="adj" fmla="val 4290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23440" y="4695825"/>
            <a:ext cx="91440" cy="2558058"/>
          </a:xfrm>
          <a:prstGeom prst="roundRect">
            <a:avLst>
              <a:gd name="adj" fmla="val 84150"/>
            </a:avLst>
          </a:prstGeom>
          <a:solidFill>
            <a:srgbClr val="1B54DA"/>
          </a:solidFill>
          <a:ln/>
        </p:spPr>
      </p:sp>
      <p:sp>
        <p:nvSpPr>
          <p:cNvPr id="16" name="Text 13"/>
          <p:cNvSpPr/>
          <p:nvPr/>
        </p:nvSpPr>
        <p:spPr>
          <a:xfrm>
            <a:off x="7820858" y="4901803"/>
            <a:ext cx="229004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820858" y="5356979"/>
            <a:ext cx="2614374" cy="169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Ageing underground pipe networks were causing rampant non-revenue water (NRW) losses, with leaks going undetected for weeks and straining city budgets.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810280" y="4695825"/>
            <a:ext cx="3095030" cy="2558058"/>
          </a:xfrm>
          <a:prstGeom prst="roundRect">
            <a:avLst>
              <a:gd name="adj" fmla="val 4290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7420" y="4695825"/>
            <a:ext cx="91440" cy="2558058"/>
          </a:xfrm>
          <a:prstGeom prst="roundRect">
            <a:avLst>
              <a:gd name="adj" fmla="val 84150"/>
            </a:avLst>
          </a:prstGeom>
          <a:solidFill>
            <a:srgbClr val="1B54DA"/>
          </a:solidFill>
          <a:ln/>
        </p:spPr>
      </p:sp>
      <p:sp>
        <p:nvSpPr>
          <p:cNvPr id="20" name="Text 17"/>
          <p:cNvSpPr/>
          <p:nvPr/>
        </p:nvSpPr>
        <p:spPr>
          <a:xfrm>
            <a:off x="11084838" y="4901803"/>
            <a:ext cx="2519005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Innovista Solution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1084838" y="5356979"/>
            <a:ext cx="2614493" cy="169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city-wide network of pressure and flow sensors enabling precise leak localisation and dynamic pressure zone optimisation across the distribution grid.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8050" y="1131094"/>
            <a:ext cx="1163598" cy="251817"/>
          </a:xfrm>
          <a:prstGeom prst="roundRect">
            <a:avLst>
              <a:gd name="adj" fmla="val 19617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676156" y="1175147"/>
            <a:ext cx="987385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ADVANTAGE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88050" y="1426369"/>
            <a:ext cx="7967901" cy="9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Innovista Advantage: Beyond Monitoring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588050" y="2508290"/>
            <a:ext cx="7967901" cy="40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Innovista delivers value that extends well beyond data collection — it transforms water management into a strategic asset for organisations committed to efficiency, sustainability, and compliance.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050" y="3040023"/>
            <a:ext cx="367427" cy="3674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8050" y="3543538"/>
            <a:ext cx="2173010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Significant Cost Savings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88050" y="3838337"/>
            <a:ext cx="7967901" cy="40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Clients experience substantial reductions in water utility bills and operational expenditures, delivering a fast and measurable return on investment.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050" y="4465439"/>
            <a:ext cx="367427" cy="3674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8050" y="4968954"/>
            <a:ext cx="2549962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Environmental Stewardship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88050" y="5263753"/>
            <a:ext cx="7967901" cy="40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By reducing waste and optimising consumption, Innovista directly contributes to sustainable water resource management and a lower environmental footprint.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050" y="5890855"/>
            <a:ext cx="367427" cy="3674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8050" y="6394371"/>
            <a:ext cx="2153364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Regulatory Compliance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88050" y="6689169"/>
            <a:ext cx="7967901" cy="40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reporting and audit trails ensure organisations meet water usage quotas and quality standards with confidence and minimal administrative burden.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79" y="622102"/>
            <a:ext cx="1011198" cy="345519"/>
          </a:xfrm>
          <a:prstGeom prst="roundRect">
            <a:avLst>
              <a:gd name="adj" fmla="val 18221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861774" y="678299"/>
            <a:ext cx="786408" cy="23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TEAM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379" y="1038344"/>
            <a:ext cx="5727621" cy="585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Meet the Innovista Team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749379" y="1889046"/>
            <a:ext cx="13131641" cy="582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Team Innovista is a multidisciplinary group of passionate engineers and data scientists united by a shared mission: to harness technology in the service of the world's most precious resource.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60577" y="3623783"/>
            <a:ext cx="4229814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 Lead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760577" y="3318629"/>
            <a:ext cx="2342078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Neeraj 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760577" y="4114800"/>
            <a:ext cx="4229814" cy="87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Drives hardware architecture, sensor integration, and the end-to-end technical implementation of the monitoring system.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760577" y="5902064"/>
            <a:ext cx="2342078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Arnold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760577" y="6300804"/>
            <a:ext cx="4229814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Scientist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760577" y="6698235"/>
            <a:ext cx="4229814" cy="87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Leads AI model development, anomaly detection algorithms, and the data analytics engine powering Innovista's intelligence layer.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1635" y="1056084"/>
            <a:ext cx="7740729" cy="1096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Innovista: Securing Our Water Future, Today.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701635" y="2384703"/>
            <a:ext cx="7740729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Water is not merely a resource — it is the foundation of life, agriculture, and civilisation. The challenge of conserving it is the defining environmental imperative of our generation.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701635" y="3087410"/>
            <a:ext cx="3792855" cy="1533287"/>
          </a:xfrm>
          <a:prstGeom prst="roundRect">
            <a:avLst>
              <a:gd name="adj" fmla="val 480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4634" y="3270409"/>
            <a:ext cx="219253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🌍</a:t>
            </a: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Conserve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84634" y="3645098"/>
            <a:ext cx="3426857" cy="792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 smart monitoring to eliminate waste and drive measurable reductions in consumption across all sectors.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49510" y="3087410"/>
            <a:ext cx="3792855" cy="1533287"/>
          </a:xfrm>
          <a:prstGeom prst="roundRect">
            <a:avLst>
              <a:gd name="adj" fmla="val 480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32509" y="3270409"/>
            <a:ext cx="219253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📡</a:t>
            </a: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Monitor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32509" y="3645098"/>
            <a:ext cx="3426857" cy="792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Ensure real-time visibility into every litre — from source to tap — with precision sensors and live analytics.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01635" y="4775716"/>
            <a:ext cx="7740729" cy="1269087"/>
          </a:xfrm>
          <a:prstGeom prst="roundRect">
            <a:avLst>
              <a:gd name="adj" fmla="val 580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4634" y="4958715"/>
            <a:ext cx="219253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💡</a:t>
            </a: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Innovate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84634" y="5333405"/>
            <a:ext cx="7374731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Continuously evolve our platform to meet the growing demands of a water-stressed world, together.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01635" y="6219111"/>
            <a:ext cx="7740729" cy="954286"/>
          </a:xfrm>
          <a:prstGeom prst="roundRect">
            <a:avLst>
              <a:gd name="adj" fmla="val 7720"/>
            </a:avLst>
          </a:prstGeom>
          <a:solidFill>
            <a:srgbClr val="BBCDF7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14" y="6460093"/>
            <a:ext cx="219194" cy="17537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71588" y="6417945"/>
            <a:ext cx="6995398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Join Team Innovista</a:t>
            </a:r>
            <a:r>
              <a:rPr lang="en-US" sz="13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building a more sustainable, equitable, and water-secure world. Let's conserve, monitor, and innovate for a better tomorrow — starting now.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974</Words>
  <Application>Microsoft Office PowerPoint</Application>
  <PresentationFormat>Custom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Alexandria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Arnold Raj Kankipati</cp:lastModifiedBy>
  <cp:revision>3</cp:revision>
  <dcterms:created xsi:type="dcterms:W3CDTF">2026-04-07T16:41:48Z</dcterms:created>
  <dcterms:modified xsi:type="dcterms:W3CDTF">2026-04-08T05:32:38Z</dcterms:modified>
</cp:coreProperties>
</file>